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Hanken Grotesk Medium"/>
      <p:regular r:id="rId16"/>
      <p:bold r:id="rId17"/>
      <p:italic r:id="rId18"/>
      <p:boldItalic r:id="rId19"/>
    </p:embeddedFont>
    <p:embeddedFont>
      <p:font typeface="Neuton Light"/>
      <p:regular r:id="rId20"/>
      <p:bold r:id="rId21"/>
      <p:boldItalic r:id="rId22"/>
    </p:embeddedFont>
    <p:embeddedFont>
      <p:font typeface="Hanken Grotesk"/>
      <p:regular r:id="rId23"/>
      <p:bold r:id="rId24"/>
      <p:italic r:id="rId25"/>
      <p:boldItalic r:id="rId26"/>
    </p:embeddedFont>
    <p:embeddedFont>
      <p:font typeface="Hanken Grotesk SemiBold"/>
      <p:regular r:id="rId27"/>
      <p:bold r:id="rId28"/>
      <p:italic r:id="rId29"/>
      <p:boldItalic r:id="rId30"/>
    </p:embeddedFont>
    <p:embeddedFont>
      <p:font typeface="Neuton"/>
      <p:regular r:id="rId31"/>
      <p:bold r:id="rId32"/>
      <p:italic r:id="rId33"/>
    </p:embeddedFont>
    <p:embeddedFont>
      <p:font typeface="Hanken Grotesk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eutonLight-regular.fntdata"/><Relationship Id="rId22" Type="http://schemas.openxmlformats.org/officeDocument/2006/relationships/font" Target="fonts/NeutonLight-boldItalic.fntdata"/><Relationship Id="rId21" Type="http://schemas.openxmlformats.org/officeDocument/2006/relationships/font" Target="fonts/NeutonLight-bold.fntdata"/><Relationship Id="rId24" Type="http://schemas.openxmlformats.org/officeDocument/2006/relationships/font" Target="fonts/HankenGrotesk-bold.fntdata"/><Relationship Id="rId23" Type="http://schemas.openxmlformats.org/officeDocument/2006/relationships/font" Target="fonts/HankenGrotes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ankenGrotesk-boldItalic.fntdata"/><Relationship Id="rId25" Type="http://schemas.openxmlformats.org/officeDocument/2006/relationships/font" Target="fonts/HankenGrotesk-italic.fntdata"/><Relationship Id="rId28" Type="http://schemas.openxmlformats.org/officeDocument/2006/relationships/font" Target="fonts/HankenGroteskSemiBold-bold.fntdata"/><Relationship Id="rId27" Type="http://schemas.openxmlformats.org/officeDocument/2006/relationships/font" Target="fonts/HankenGrotesk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ankenGrotesk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uton-regular.fntdata"/><Relationship Id="rId30" Type="http://schemas.openxmlformats.org/officeDocument/2006/relationships/font" Target="fonts/HankenGrotesk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Neuton-italic.fntdata"/><Relationship Id="rId10" Type="http://schemas.openxmlformats.org/officeDocument/2006/relationships/slide" Target="slides/slide4.xml"/><Relationship Id="rId32" Type="http://schemas.openxmlformats.org/officeDocument/2006/relationships/font" Target="fonts/Neuton-bold.fntdata"/><Relationship Id="rId13" Type="http://schemas.openxmlformats.org/officeDocument/2006/relationships/slide" Target="slides/slide7.xml"/><Relationship Id="rId35" Type="http://schemas.openxmlformats.org/officeDocument/2006/relationships/font" Target="fonts/HankenGroteskLight-bold.fntdata"/><Relationship Id="rId12" Type="http://schemas.openxmlformats.org/officeDocument/2006/relationships/slide" Target="slides/slide6.xml"/><Relationship Id="rId34" Type="http://schemas.openxmlformats.org/officeDocument/2006/relationships/font" Target="fonts/HankenGroteskLight-regular.fntdata"/><Relationship Id="rId15" Type="http://schemas.openxmlformats.org/officeDocument/2006/relationships/slide" Target="slides/slide9.xml"/><Relationship Id="rId37" Type="http://schemas.openxmlformats.org/officeDocument/2006/relationships/font" Target="fonts/HankenGrotesk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HankenGroteskLight-italic.fntdata"/><Relationship Id="rId17" Type="http://schemas.openxmlformats.org/officeDocument/2006/relationships/font" Target="fonts/HankenGroteskMedium-bold.fntdata"/><Relationship Id="rId16" Type="http://schemas.openxmlformats.org/officeDocument/2006/relationships/font" Target="fonts/HankenGroteskMedium-regular.fntdata"/><Relationship Id="rId19" Type="http://schemas.openxmlformats.org/officeDocument/2006/relationships/font" Target="fonts/HankenGroteskMedium-boldItalic.fntdata"/><Relationship Id="rId18" Type="http://schemas.openxmlformats.org/officeDocument/2006/relationships/font" Target="fonts/HankenGrotesk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ac77dda6f5_0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ac77dda6f5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c77dda6f5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ac77dda6f5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ac77dda6f5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ac77dda6f5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ac77dda6f5_0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ac77dda6f5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ac77dda6f5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ac77dda6f5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ac77dda6f5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ac77dda6f5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ac77dda6f5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ac77dda6f5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ac77dda6f5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ac77dda6f5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c77dda6f5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ac77dda6f5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3" name="Google Shape;663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4" name="Google Shape;664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59"/>
          <p:cNvSpPr txBox="1"/>
          <p:nvPr>
            <p:ph type="title"/>
          </p:nvPr>
        </p:nvSpPr>
        <p:spPr>
          <a:xfrm>
            <a:off x="575450" y="684975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7500"/>
              <a:t>Rollins College Course Management System</a:t>
            </a:r>
            <a:endParaRPr sz="7500"/>
          </a:p>
        </p:txBody>
      </p:sp>
      <p:sp>
        <p:nvSpPr>
          <p:cNvPr id="666" name="Google Shape;666;p5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667" name="Google Shape;667;p59"/>
          <p:cNvSpPr txBox="1"/>
          <p:nvPr>
            <p:ph idx="3" type="subTitle"/>
          </p:nvPr>
        </p:nvSpPr>
        <p:spPr>
          <a:xfrm>
            <a:off x="575450" y="4013150"/>
            <a:ext cx="1501200" cy="88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Phuc Dao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William Slowey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Alex Octuk</a:t>
            </a:r>
            <a:endParaRPr/>
          </a:p>
        </p:txBody>
      </p:sp>
      <p:sp>
        <p:nvSpPr>
          <p:cNvPr id="668" name="Google Shape;668;p59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Fall</a:t>
            </a:r>
            <a:endParaRPr/>
          </a:p>
        </p:txBody>
      </p:sp>
      <p:sp>
        <p:nvSpPr>
          <p:cNvPr id="669" name="Google Shape;669;p59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5" name="Google Shape;675;p6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6" name="Google Shape;676;p6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7" name="Google Shape;677;p6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8" name="Google Shape;678;p60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9" name="Google Shape;679;p60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0" name="Google Shape;680;p60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1" name="Google Shape;681;p60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Responsibilities</a:t>
            </a:r>
            <a:endParaRPr/>
          </a:p>
        </p:txBody>
      </p:sp>
      <p:sp>
        <p:nvSpPr>
          <p:cNvPr id="682" name="Google Shape;682;p60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Responsibilities</a:t>
            </a:r>
            <a:endParaRPr/>
          </a:p>
        </p:txBody>
      </p:sp>
      <p:sp>
        <p:nvSpPr>
          <p:cNvPr id="683" name="Google Shape;683;p60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Responsibilities</a:t>
            </a:r>
            <a:endParaRPr/>
          </a:p>
        </p:txBody>
      </p:sp>
      <p:sp>
        <p:nvSpPr>
          <p:cNvPr id="684" name="Google Shape;684;p60"/>
          <p:cNvSpPr txBox="1"/>
          <p:nvPr>
            <p:ph idx="6" type="title"/>
          </p:nvPr>
        </p:nvSpPr>
        <p:spPr>
          <a:xfrm>
            <a:off x="700925" y="654275"/>
            <a:ext cx="77373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Phuc Dao - </a:t>
            </a:r>
            <a:r>
              <a:rPr lang="en" sz="3000"/>
              <a:t>System Integration &amp; Design</a:t>
            </a:r>
            <a:endParaRPr sz="3000"/>
          </a:p>
        </p:txBody>
      </p:sp>
      <p:sp>
        <p:nvSpPr>
          <p:cNvPr id="685" name="Google Shape;685;p60"/>
          <p:cNvSpPr txBox="1"/>
          <p:nvPr>
            <p:ph type="title"/>
          </p:nvPr>
        </p:nvSpPr>
        <p:spPr>
          <a:xfrm>
            <a:off x="703350" y="23567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"/>
              <a:t>William Slowey</a:t>
            </a:r>
            <a:endParaRPr/>
          </a:p>
        </p:txBody>
      </p:sp>
      <p:sp>
        <p:nvSpPr>
          <p:cNvPr id="686" name="Google Shape;686;p60"/>
          <p:cNvSpPr txBox="1"/>
          <p:nvPr>
            <p:ph idx="5" type="title"/>
          </p:nvPr>
        </p:nvSpPr>
        <p:spPr>
          <a:xfrm>
            <a:off x="912225" y="376845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"/>
              <a:t>Alex Octuk - GUI Design</a:t>
            </a:r>
            <a:endParaRPr/>
          </a:p>
        </p:txBody>
      </p:sp>
      <p:sp>
        <p:nvSpPr>
          <p:cNvPr id="687" name="Google Shape;687;p60"/>
          <p:cNvSpPr txBox="1"/>
          <p:nvPr>
            <p:ph idx="16" type="body"/>
          </p:nvPr>
        </p:nvSpPr>
        <p:spPr>
          <a:xfrm>
            <a:off x="3060150" y="1435775"/>
            <a:ext cx="5311800" cy="692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lnSpcReduction="10000"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Imported Rollins Spring 2026 catalog and merged into the database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Designed project concept and core features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Created full UML class diagram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Developed &amp; designed the presentation</a:t>
            </a:r>
            <a:endParaRPr/>
          </a:p>
        </p:txBody>
      </p:sp>
      <p:sp>
        <p:nvSpPr>
          <p:cNvPr id="688" name="Google Shape;688;p60"/>
          <p:cNvSpPr txBox="1"/>
          <p:nvPr>
            <p:ph idx="17" type="body"/>
          </p:nvPr>
        </p:nvSpPr>
        <p:spPr>
          <a:xfrm>
            <a:off x="3126425" y="3001225"/>
            <a:ext cx="53118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Designed </a:t>
            </a:r>
            <a:r>
              <a:rPr lang="en"/>
              <a:t>methods for each action along with exception handling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Utilized the data structures to store data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Implemented login system for the GUI</a:t>
            </a:r>
            <a:endParaRPr/>
          </a:p>
        </p:txBody>
      </p:sp>
      <p:sp>
        <p:nvSpPr>
          <p:cNvPr id="689" name="Google Shape;689;p60"/>
          <p:cNvSpPr txBox="1"/>
          <p:nvPr>
            <p:ph idx="18" type="body"/>
          </p:nvPr>
        </p:nvSpPr>
        <p:spPr>
          <a:xfrm>
            <a:off x="3060150" y="4553025"/>
            <a:ext cx="5311800" cy="46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lnSpcReduction="20000"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Designed and implemented GUI base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Adapted methods to mesh </a:t>
            </a:r>
            <a:r>
              <a:rPr lang="en"/>
              <a:t>with GUI structure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Developed project report</a:t>
            </a:r>
            <a:endParaRPr/>
          </a:p>
        </p:txBody>
      </p:sp>
      <p:sp>
        <p:nvSpPr>
          <p:cNvPr id="690" name="Google Shape;690;p6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Team Members</a:t>
            </a:r>
            <a:endParaRPr/>
          </a:p>
        </p:txBody>
      </p:sp>
      <p:cxnSp>
        <p:nvCxnSpPr>
          <p:cNvPr id="691" name="Google Shape;691;p60"/>
          <p:cNvCxnSpPr/>
          <p:nvPr/>
        </p:nvCxnSpPr>
        <p:spPr>
          <a:xfrm rot="10800000">
            <a:off x="-2425" y="36400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60"/>
          <p:cNvCxnSpPr/>
          <p:nvPr/>
        </p:nvCxnSpPr>
        <p:spPr>
          <a:xfrm rot="10800000">
            <a:off x="-2425" y="21278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Our vision</a:t>
            </a:r>
            <a:endParaRPr/>
          </a:p>
        </p:txBody>
      </p:sp>
      <p:sp>
        <p:nvSpPr>
          <p:cNvPr id="698" name="Google Shape;698;p61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/>
              <a:t>Our goal is simple: reduce frustration, prevent crashes, and make Rollins course registration stress-free.</a:t>
            </a:r>
            <a:endParaRPr/>
          </a:p>
        </p:txBody>
      </p:sp>
      <p:sp>
        <p:nvSpPr>
          <p:cNvPr id="699" name="Google Shape;699;p61"/>
          <p:cNvSpPr txBox="1"/>
          <p:nvPr>
            <p:ph idx="2" type="body"/>
          </p:nvPr>
        </p:nvSpPr>
        <p:spPr>
          <a:xfrm>
            <a:off x="593775" y="3201100"/>
            <a:ext cx="77067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100"/>
              <a:t>Concept Overview: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 SemiBold"/>
              <a:buChar char="●"/>
            </a:pPr>
            <a:r>
              <a:rPr b="0" lang="en" sz="11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A course registration system modeled after Rollins College’s real enrollment structure</a:t>
            </a:r>
            <a:endParaRPr b="0" sz="11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 SemiBold"/>
              <a:buChar char="●"/>
            </a:pPr>
            <a:r>
              <a:rPr b="0" lang="en" sz="11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Allow students to register and </a:t>
            </a:r>
            <a:r>
              <a:rPr b="0" lang="en" sz="11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manage</a:t>
            </a:r>
            <a:r>
              <a:rPr b="0" lang="en" sz="11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 their course schedule</a:t>
            </a:r>
            <a:endParaRPr b="0" sz="11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 SemiBold"/>
              <a:buChar char="●"/>
            </a:pPr>
            <a:r>
              <a:rPr b="0" lang="en" sz="11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Enable administrative management of users and classes</a:t>
            </a:r>
            <a:endParaRPr b="0" sz="11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 SemiBold"/>
              <a:buChar char="●"/>
            </a:pPr>
            <a:r>
              <a:rPr b="0" lang="en" sz="11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Each system element (Students, Professors, Departments, Courses) has unique IDs for fast searching (CRN, Student ID, etc.)</a:t>
            </a:r>
            <a:endParaRPr b="0" sz="11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 SemiBold"/>
              <a:buChar char="●"/>
            </a:pPr>
            <a:r>
              <a:rPr b="0" lang="en" sz="11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Built to be more stable and streamlined than the current Rollins system, which often struggles with performance during heavy use</a:t>
            </a:r>
            <a:endParaRPr b="0" sz="11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</p:txBody>
      </p:sp>
      <p:cxnSp>
        <p:nvCxnSpPr>
          <p:cNvPr id="700" name="Google Shape;700;p61"/>
          <p:cNvCxnSpPr/>
          <p:nvPr/>
        </p:nvCxnSpPr>
        <p:spPr>
          <a:xfrm rot="10800000">
            <a:off x="597900" y="316925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2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706" name="Google Shape;706;p62"/>
          <p:cNvSpPr txBox="1"/>
          <p:nvPr>
            <p:ph type="title"/>
          </p:nvPr>
        </p:nvSpPr>
        <p:spPr>
          <a:xfrm>
            <a:off x="597900" y="146355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DEMO</a:t>
            </a:r>
            <a:endParaRPr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3"/>
          <p:cNvSpPr txBox="1"/>
          <p:nvPr>
            <p:ph idx="5" type="subTitle"/>
          </p:nvPr>
        </p:nvSpPr>
        <p:spPr>
          <a:xfrm>
            <a:off x="127000" y="146475"/>
            <a:ext cx="3306000" cy="50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500"/>
              <a:t>How We Used OOP Principles</a:t>
            </a:r>
            <a:endParaRPr sz="1500"/>
          </a:p>
        </p:txBody>
      </p:sp>
      <p:pic>
        <p:nvPicPr>
          <p:cNvPr id="712" name="Google Shape;712;p63" title="Ảnh màn hình 2025-12-01 lúc 4.47.23 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315" y="0"/>
            <a:ext cx="278763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4"/>
          <p:cNvSpPr/>
          <p:nvPr/>
        </p:nvSpPr>
        <p:spPr>
          <a:xfrm rot="5400000">
            <a:off x="117450" y="583372"/>
            <a:ext cx="44514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8" name="Google Shape;718;p64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4"/>
          <p:cNvSpPr/>
          <p:nvPr/>
        </p:nvSpPr>
        <p:spPr>
          <a:xfrm rot="5400000">
            <a:off x="4574325" y="582647"/>
            <a:ext cx="44523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0" name="Google Shape;720;p64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64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64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64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500"/>
              <a:t>How We Used OOP Principles</a:t>
            </a:r>
            <a:endParaRPr sz="1500"/>
          </a:p>
        </p:txBody>
      </p:sp>
      <p:sp>
        <p:nvSpPr>
          <p:cNvPr id="724" name="Google Shape;724;p64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Encapsulation</a:t>
            </a:r>
            <a:endParaRPr/>
          </a:p>
        </p:txBody>
      </p:sp>
      <p:sp>
        <p:nvSpPr>
          <p:cNvPr id="725" name="Google Shape;725;p64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Abstraction</a:t>
            </a:r>
            <a:endParaRPr/>
          </a:p>
        </p:txBody>
      </p:sp>
      <p:sp>
        <p:nvSpPr>
          <p:cNvPr id="726" name="Google Shape;726;p64"/>
          <p:cNvSpPr txBox="1"/>
          <p:nvPr>
            <p:ph idx="7" type="body"/>
          </p:nvPr>
        </p:nvSpPr>
        <p:spPr>
          <a:xfrm>
            <a:off x="4629675" y="1055375"/>
            <a:ext cx="4341600" cy="10425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3"/>
              <a:buFont typeface="Arial"/>
              <a:buNone/>
            </a:pPr>
            <a:r>
              <a:rPr lang="en" sz="1025"/>
              <a:t>- CourseManagement.java acts as the brain of the system</a:t>
            </a:r>
            <a:endParaRPr sz="1025"/>
          </a:p>
          <a:p>
            <a:pPr indent="-293687" lvl="0" marL="45720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25"/>
              <a:buChar char="●"/>
            </a:pPr>
            <a:r>
              <a:rPr lang="en" sz="1025"/>
              <a:t>Handles high-level actions like enrollStudent(id, crn), dropStudentFromCourse(id, crn), findCourseByCRN(crn)</a:t>
            </a:r>
            <a:endParaRPr sz="1025"/>
          </a:p>
          <a:p>
            <a:pPr indent="0" lvl="0" marL="89999" rtl="0" algn="l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833"/>
              <a:buFont typeface="Arial"/>
              <a:buNone/>
            </a:pPr>
            <a:r>
              <a:t/>
            </a:r>
            <a:endParaRPr sz="1025"/>
          </a:p>
        </p:txBody>
      </p:sp>
      <p:pic>
        <p:nvPicPr>
          <p:cNvPr id="727" name="Google Shape;727;p64" title="Ảnh màn hình 2025-12-01 lúc 4.25.18 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50" y="1954651"/>
            <a:ext cx="3967199" cy="2512925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64"/>
          <p:cNvSpPr txBox="1"/>
          <p:nvPr>
            <p:ph idx="7" type="body"/>
          </p:nvPr>
        </p:nvSpPr>
        <p:spPr>
          <a:xfrm>
            <a:off x="172350" y="1092700"/>
            <a:ext cx="4341600" cy="7935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89999" lvl="0" marL="179999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</a:t>
            </a:r>
            <a:r>
              <a:rPr lang="en"/>
              <a:t>Each core object (Student, Course, Professor, Department) has private fields with public getters and setters</a:t>
            </a:r>
            <a:endParaRPr/>
          </a:p>
        </p:txBody>
      </p:sp>
      <p:pic>
        <p:nvPicPr>
          <p:cNvPr id="729" name="Google Shape;729;p64" title="Ảnh màn hình 2025-12-01 lúc 4.32.34 CH.png"/>
          <p:cNvPicPr preferRelativeResize="0"/>
          <p:nvPr/>
        </p:nvPicPr>
        <p:blipFill rotWithShape="1">
          <a:blip r:embed="rId4">
            <a:alphaModFix/>
          </a:blip>
          <a:srcRect b="0" l="0" r="0" t="744"/>
          <a:stretch/>
        </p:blipFill>
        <p:spPr>
          <a:xfrm>
            <a:off x="5039900" y="1849526"/>
            <a:ext cx="3521150" cy="30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5"/>
          <p:cNvSpPr/>
          <p:nvPr/>
        </p:nvSpPr>
        <p:spPr>
          <a:xfrm rot="5400000">
            <a:off x="116400" y="584422"/>
            <a:ext cx="44535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5" name="Google Shape;735;p65"/>
          <p:cNvSpPr/>
          <p:nvPr/>
        </p:nvSpPr>
        <p:spPr>
          <a:xfrm rot="5400000">
            <a:off x="4573125" y="584422"/>
            <a:ext cx="44547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6" name="Google Shape;736;p65"/>
          <p:cNvSpPr/>
          <p:nvPr/>
        </p:nvSpPr>
        <p:spPr>
          <a:xfrm>
            <a:off x="4759325" y="778738"/>
            <a:ext cx="3063900" cy="378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65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500"/>
              <a:t>How We Used OOP Principles</a:t>
            </a:r>
            <a:endParaRPr sz="1500"/>
          </a:p>
        </p:txBody>
      </p:sp>
      <p:sp>
        <p:nvSpPr>
          <p:cNvPr id="738" name="Google Shape;738;p65"/>
          <p:cNvSpPr txBox="1"/>
          <p:nvPr>
            <p:ph idx="7" type="body"/>
          </p:nvPr>
        </p:nvSpPr>
        <p:spPr>
          <a:xfrm>
            <a:off x="4629675" y="1128600"/>
            <a:ext cx="4341600" cy="28863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89999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</a:t>
            </a:r>
            <a:r>
              <a:rPr lang="en"/>
              <a:t>Polymorphism appears in how different user roles interact through the same system</a:t>
            </a:r>
            <a:endParaRPr/>
          </a:p>
          <a:p>
            <a:pPr indent="-2921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The same backend (CourseManagement) supports Admin, Student, and Professor actions using different GUI screens</a:t>
            </a:r>
            <a:endParaRPr/>
          </a:p>
          <a:p>
            <a:pPr indent="-89999" lvl="0" marL="17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</a:t>
            </a:r>
            <a:r>
              <a:rPr lang="en"/>
              <a:t>Composition is used heavily</a:t>
            </a:r>
            <a:endParaRPr/>
          </a:p>
          <a:p>
            <a:pPr indent="-292100" lvl="0" marL="914400" rtl="0" algn="l"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 Course contains a Professor and a Department</a:t>
            </a:r>
            <a:endParaRPr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 Student contains a list of Course objects</a:t>
            </a:r>
            <a:endParaRPr/>
          </a:p>
          <a:p>
            <a:pPr indent="-89999" lvl="0" marL="179999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9" name="Google Shape;739;p65"/>
          <p:cNvSpPr txBox="1"/>
          <p:nvPr>
            <p:ph idx="8" type="subTitle"/>
          </p:nvPr>
        </p:nvSpPr>
        <p:spPr>
          <a:xfrm>
            <a:off x="4759325" y="772438"/>
            <a:ext cx="30639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Polymorphism &amp; Composition</a:t>
            </a:r>
            <a:endParaRPr/>
          </a:p>
        </p:txBody>
      </p:sp>
      <p:sp>
        <p:nvSpPr>
          <p:cNvPr id="740" name="Google Shape;740;p65"/>
          <p:cNvSpPr txBox="1"/>
          <p:nvPr>
            <p:ph idx="4294967295" type="body"/>
          </p:nvPr>
        </p:nvSpPr>
        <p:spPr>
          <a:xfrm>
            <a:off x="172350" y="1156747"/>
            <a:ext cx="4341600" cy="8049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89999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</a:t>
            </a:r>
            <a:r>
              <a:rPr lang="en"/>
              <a:t> The GUI class extends Swing components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41" name="Google Shape;741;p65"/>
          <p:cNvSpPr/>
          <p:nvPr/>
        </p:nvSpPr>
        <p:spPr>
          <a:xfrm>
            <a:off x="286100" y="766145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65"/>
          <p:cNvSpPr txBox="1"/>
          <p:nvPr>
            <p:ph idx="2" type="subTitle"/>
          </p:nvPr>
        </p:nvSpPr>
        <p:spPr>
          <a:xfrm>
            <a:off x="285800" y="766161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Inheritance</a:t>
            </a:r>
            <a:endParaRPr/>
          </a:p>
        </p:txBody>
      </p:sp>
      <p:pic>
        <p:nvPicPr>
          <p:cNvPr id="743" name="Google Shape;743;p65" title="Ảnh màn hình 2025-12-01 lúc 4.39.27 CH.png"/>
          <p:cNvPicPr preferRelativeResize="0"/>
          <p:nvPr/>
        </p:nvPicPr>
        <p:blipFill rotWithShape="1">
          <a:blip r:embed="rId3">
            <a:alphaModFix/>
          </a:blip>
          <a:srcRect b="36540" l="0" r="0" t="0"/>
          <a:stretch/>
        </p:blipFill>
        <p:spPr>
          <a:xfrm>
            <a:off x="495000" y="1630175"/>
            <a:ext cx="3696300" cy="3197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6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749" name="Google Shape;749;p66"/>
          <p:cNvGrpSpPr/>
          <p:nvPr/>
        </p:nvGrpSpPr>
        <p:grpSpPr>
          <a:xfrm>
            <a:off x="4626530" y="1993668"/>
            <a:ext cx="4291500" cy="2923119"/>
            <a:chOff x="227492" y="1993681"/>
            <a:chExt cx="4291500" cy="2923119"/>
          </a:xfrm>
        </p:grpSpPr>
        <p:sp>
          <p:nvSpPr>
            <p:cNvPr id="750" name="Google Shape;750;p66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1" name="Google Shape;751;p66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52" name="Google Shape;752;p66"/>
          <p:cNvGrpSpPr/>
          <p:nvPr/>
        </p:nvGrpSpPr>
        <p:grpSpPr>
          <a:xfrm>
            <a:off x="227492" y="1993681"/>
            <a:ext cx="4291500" cy="2923119"/>
            <a:chOff x="227492" y="1993681"/>
            <a:chExt cx="4291500" cy="2923119"/>
          </a:xfrm>
        </p:grpSpPr>
        <p:sp>
          <p:nvSpPr>
            <p:cNvPr id="753" name="Google Shape;753;p66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4" name="Google Shape;754;p66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55" name="Google Shape;755;p6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6" name="Google Shape;756;p66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7" name="Google Shape;757;p66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8" name="Google Shape;758;p66"/>
          <p:cNvSpPr txBox="1"/>
          <p:nvPr>
            <p:ph idx="16" type="subTitle"/>
          </p:nvPr>
        </p:nvSpPr>
        <p:spPr>
          <a:xfrm>
            <a:off x="227625" y="2276000"/>
            <a:ext cx="4291500" cy="25440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Implementing and merging Course </a:t>
            </a:r>
            <a:r>
              <a:rPr lang="en"/>
              <a:t>Catalog</a:t>
            </a:r>
            <a:r>
              <a:rPr lang="en"/>
              <a:t> CSV into the system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Creating and designing methods to mesh with data structures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GUI Design and functionality</a:t>
            </a:r>
            <a:endParaRPr/>
          </a:p>
        </p:txBody>
      </p:sp>
      <p:sp>
        <p:nvSpPr>
          <p:cNvPr id="759" name="Google Shape;759;p6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760" name="Google Shape;760;p66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OOP</a:t>
            </a:r>
            <a:endParaRPr/>
          </a:p>
        </p:txBody>
      </p:sp>
      <p:sp>
        <p:nvSpPr>
          <p:cNvPr id="761" name="Google Shape;761;p66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762" name="Google Shape;762;p66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Challenges and Lessons Learned</a:t>
            </a:r>
            <a:endParaRPr/>
          </a:p>
        </p:txBody>
      </p:sp>
      <p:sp>
        <p:nvSpPr>
          <p:cNvPr id="763" name="Google Shape;763;p66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UML</a:t>
            </a:r>
            <a:endParaRPr/>
          </a:p>
        </p:txBody>
      </p:sp>
      <p:sp>
        <p:nvSpPr>
          <p:cNvPr id="764" name="Google Shape;764;p66"/>
          <p:cNvSpPr txBox="1"/>
          <p:nvPr>
            <p:ph idx="4294967295" type="subTitle"/>
          </p:nvPr>
        </p:nvSpPr>
        <p:spPr>
          <a:xfrm>
            <a:off x="7549950" y="344712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65" name="Google Shape;765;p66"/>
          <p:cNvSpPr txBox="1"/>
          <p:nvPr>
            <p:ph idx="4294967295" type="subTitle"/>
          </p:nvPr>
        </p:nvSpPr>
        <p:spPr>
          <a:xfrm>
            <a:off x="6847775" y="361187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66" name="Google Shape;766;p66"/>
          <p:cNvSpPr txBox="1"/>
          <p:nvPr>
            <p:ph idx="4294967295" type="subTitle"/>
          </p:nvPr>
        </p:nvSpPr>
        <p:spPr>
          <a:xfrm>
            <a:off x="6142300" y="3936100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67" name="Google Shape;767;p66"/>
          <p:cNvSpPr txBox="1"/>
          <p:nvPr>
            <p:ph idx="4294967295" type="subTitle"/>
          </p:nvPr>
        </p:nvSpPr>
        <p:spPr>
          <a:xfrm>
            <a:off x="5424800" y="415242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68" name="Google Shape;768;p66"/>
          <p:cNvSpPr txBox="1"/>
          <p:nvPr>
            <p:ph idx="4294967295" type="subTitle"/>
          </p:nvPr>
        </p:nvSpPr>
        <p:spPr>
          <a:xfrm>
            <a:off x="8245250" y="3349125"/>
            <a:ext cx="4449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69" name="Google Shape;769;p66"/>
          <p:cNvSpPr txBox="1"/>
          <p:nvPr>
            <p:ph idx="16" type="subTitle"/>
          </p:nvPr>
        </p:nvSpPr>
        <p:spPr>
          <a:xfrm>
            <a:off x="4626525" y="2276000"/>
            <a:ext cx="4291500" cy="25440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 lnSpcReduction="20000"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to import and change the course catalog to match data structures used in system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Learning BufferedReader and IOException implementation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to </a:t>
            </a:r>
            <a:r>
              <a:rPr lang="en"/>
              <a:t>align</a:t>
            </a:r>
            <a:r>
              <a:rPr lang="en"/>
              <a:t> the needs of a method with the data structures used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Visibility, static vs non-static/private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Fully implementing GUI functions and how to change screens for different functions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Mapping structure of GUI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Bookkeeping</a:t>
            </a:r>
            <a:r>
              <a:rPr lang="en"/>
              <a:t> what screens go where and what is added to screens</a:t>
            </a:r>
            <a:endParaRPr/>
          </a:p>
        </p:txBody>
      </p:sp>
      <p:sp>
        <p:nvSpPr>
          <p:cNvPr id="770" name="Google Shape;770;p66"/>
          <p:cNvSpPr txBox="1"/>
          <p:nvPr/>
        </p:nvSpPr>
        <p:spPr>
          <a:xfrm>
            <a:off x="954225" y="1937300"/>
            <a:ext cx="82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Challenges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5473000" y="1937300"/>
            <a:ext cx="66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Lessons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7" name="Google Shape;777;p6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br>
              <a:rPr lang="en"/>
            </a:br>
            <a:r>
              <a:rPr lang="en"/>
              <a:t>Thank you!</a:t>
            </a:r>
            <a:endParaRPr/>
          </a:p>
        </p:txBody>
      </p:sp>
      <p:sp>
        <p:nvSpPr>
          <p:cNvPr id="778" name="Google Shape;778;p67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779" name="Google Shape;779;p67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END</a:t>
            </a:r>
            <a:endParaRPr/>
          </a:p>
        </p:txBody>
      </p:sp>
      <p:cxnSp>
        <p:nvCxnSpPr>
          <p:cNvPr id="780" name="Google Shape;780;p67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